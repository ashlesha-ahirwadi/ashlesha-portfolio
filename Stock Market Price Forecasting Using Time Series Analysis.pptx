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firstSlideNum="0" strictFirstAndLastChars="0" saveSubsetFonts="1" showSpecialPlsOnTitleSld="0">
  <p:sldMasterIdLst>
    <p:sldMasterId id="2147483674" r:id="rId5"/>
    <p:sldMasterId id="21474836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09CB54-9C21-47EB-A91A-02BA84B3654D}">
  <a:tblStyle styleId="{9509CB54-9C21-47EB-A91A-02BA84B3654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037b54a7af_3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037b54a7af_3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037b54a7af_3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037b54a7af_3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1f231b9ad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1f231b9ad4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037b54a7af_6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037b54a7af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037b54a7af_6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037b54a7af_3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3037b54a7af_3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037b54a7af_6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g3037b54a7af_6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037b54a7af_6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g3037b54a7af_6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03628af09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03628af096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37b54a7af_3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g3037b54a7af_3_1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1f231b9ad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g31f231b9ad4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037b54a7af_3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g3037b54a7af_3_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1f231b9ad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g31f231b9ad4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1f231b9ad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31f231b9ad4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1f231b9ad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g31f231b9ad4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1f231b9ad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g31f231b9ad4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1f231b9ad4_2_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1f231b9ad4_2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037b54a7af_9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037b54a7af_9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1f231b9ad4_2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1f231b9ad4_2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1f231b9ad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31f231b9ad4_0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037b54a7af_3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g3037b54a7af_3_1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7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8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7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Page 1">
  <p:cSld name="Separator Page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0" y="1542060"/>
            <a:ext cx="9144000" cy="205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7057571" y="-916214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WU PPT Wide Opt 2 - No Wordmark_Separator 1.jpg" id="25" name="Google Shape;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Page 2">
  <p:cSld name="Separator Pag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0" y="1542060"/>
            <a:ext cx="9144000" cy="205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NWU PPT Wide Opt 2 - No Wordmark_Separator 2.jp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 3">
  <p:cSld name="Master 3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0" name="Google Shape;50;p8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8" name="Google Shape;58;p9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9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1" name="Google Shape;71;p11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136197" y="-304560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Page 1">
  <p:cSld name="Separator Page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0" y="1542060"/>
            <a:ext cx="9144000" cy="205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/>
        </p:nvSpPr>
        <p:spPr>
          <a:xfrm>
            <a:off x="7057571" y="-916214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WU PPT Wide Opt 2 - No Wordmark_Separator 1.jpg" id="111" name="Google Shape;1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 3">
  <p:cSld name="Master 3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1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 cap="none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3" name="Google Shape;133;p21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4" name="Google Shape;134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0" name="Google Shape;140;p22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41" name="Google Shape;141;p22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2" name="Google Shape;142;p22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43" name="Google Shape;143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4" name="Google Shape;154;p24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5" name="Google Shape;155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5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2" name="Google Shape;162;p2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26"/>
          <p:cNvSpPr txBox="1"/>
          <p:nvPr/>
        </p:nvSpPr>
        <p:spPr>
          <a:xfrm>
            <a:off x="3136197" y="-304560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2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2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showMasterSp="0" type="title">
  <p:cSld name="TITLE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15;p1" id="179" name="Google Shape;17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8"/>
          <p:cNvSpPr txBox="1"/>
          <p:nvPr>
            <p:ph type="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81" name="Google Shape;181;p28"/>
          <p:cNvSpPr txBox="1"/>
          <p:nvPr>
            <p:ph idx="1" type="body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>
                <a:solidFill>
                  <a:srgbClr val="888888"/>
                </a:solidFill>
              </a:defRPr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12" type="sldNum"/>
          </p:nvPr>
        </p:nvSpPr>
        <p:spPr>
          <a:xfrm>
            <a:off x="8413184" y="4776892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>
                <a:solidFill>
                  <a:srgbClr val="FFFFFF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>
                <a:solidFill>
                  <a:srgbClr val="FFFFFF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>
                <a:solidFill>
                  <a:srgbClr val="FFFFFF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>
                <a:solidFill>
                  <a:srgbClr val="FFFFFF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>
                <a:solidFill>
                  <a:srgbClr val="FFFFFF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>
                <a:solidFill>
                  <a:srgbClr val="FFFFFF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>
                <a:solidFill>
                  <a:srgbClr val="FFFFFF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>
                <a:solidFill>
                  <a:srgbClr val="FFFFFF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WU PPT Wide Opt 2_Master.jpg" id="15" name="Google Shape;15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WU PPT Wide Opt 2_Master.jpg" id="101" name="Google Shape;101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Relationship Id="rId4" Type="http://schemas.openxmlformats.org/officeDocument/2006/relationships/image" Target="../media/image14.jpg"/><Relationship Id="rId5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jpg"/><Relationship Id="rId4" Type="http://schemas.openxmlformats.org/officeDocument/2006/relationships/image" Target="../media/image19.gif"/><Relationship Id="rId5" Type="http://schemas.openxmlformats.org/officeDocument/2006/relationships/image" Target="../media/image3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WU PPT Wide Opt 2_Cover 1.jpg" id="187" name="Google Shape;18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807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9"/>
          <p:cNvSpPr txBox="1"/>
          <p:nvPr>
            <p:ph type="ctrTitle"/>
          </p:nvPr>
        </p:nvSpPr>
        <p:spPr>
          <a:xfrm>
            <a:off x="2748643" y="2113822"/>
            <a:ext cx="6395400" cy="7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2800">
                <a:solidFill>
                  <a:srgbClr val="7030A0"/>
                </a:solidFill>
              </a:rPr>
              <a:t>Stock Market Price Forecasting Using Time Series Analysis</a:t>
            </a:r>
            <a:endParaRPr sz="2800">
              <a:solidFill>
                <a:srgbClr val="7030A0"/>
              </a:solidFill>
            </a:endParaRPr>
          </a:p>
        </p:txBody>
      </p:sp>
      <p:pic>
        <p:nvPicPr>
          <p:cNvPr descr="How to Spot Key Stock Chart Patterns" id="189" name="Google Shape;18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0756" y="3338093"/>
            <a:ext cx="2508094" cy="16184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pwards trending chart on a screen" id="190" name="Google Shape;19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3179" y="144644"/>
            <a:ext cx="2459981" cy="163838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 txBox="1"/>
          <p:nvPr/>
        </p:nvSpPr>
        <p:spPr>
          <a:xfrm>
            <a:off x="6934872" y="4712355"/>
            <a:ext cx="195827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 u="none" cap="none" strike="noStrike">
                <a:solidFill>
                  <a:srgbClr val="7030A0"/>
                </a:solidFill>
              </a:rPr>
              <a:t>Team: Gryffindor</a:t>
            </a:r>
            <a:endParaRPr b="1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ctrTitle"/>
          </p:nvPr>
        </p:nvSpPr>
        <p:spPr>
          <a:xfrm>
            <a:off x="0" y="161841"/>
            <a:ext cx="3303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400">
                <a:solidFill>
                  <a:srgbClr val="7030A0"/>
                </a:solidFill>
              </a:rPr>
              <a:t>   </a:t>
            </a:r>
            <a:r>
              <a:rPr lang="en-US" sz="2400">
                <a:solidFill>
                  <a:srgbClr val="7030A0"/>
                </a:solidFill>
              </a:rPr>
              <a:t>Overview</a:t>
            </a:r>
            <a:endParaRPr sz="2400">
              <a:solidFill>
                <a:srgbClr val="7030A0"/>
              </a:solidFill>
            </a:endParaRPr>
          </a:p>
        </p:txBody>
      </p:sp>
      <p:sp>
        <p:nvSpPr>
          <p:cNvPr id="197" name="Google Shape;197;p3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30"/>
          <p:cNvSpPr txBox="1"/>
          <p:nvPr/>
        </p:nvSpPr>
        <p:spPr>
          <a:xfrm>
            <a:off x="499800" y="845125"/>
            <a:ext cx="6243000" cy="30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Data Exploration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Data Pre-processing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Modelling: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TS Mixer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SARIMAX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TIDE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LSTM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Demo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type="ctrTitle"/>
          </p:nvPr>
        </p:nvSpPr>
        <p:spPr>
          <a:xfrm>
            <a:off x="-262200" y="161841"/>
            <a:ext cx="3303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400">
                <a:solidFill>
                  <a:srgbClr val="7030A0"/>
                </a:solidFill>
              </a:rPr>
              <a:t>Data Sources</a:t>
            </a:r>
            <a:endParaRPr sz="2400">
              <a:solidFill>
                <a:srgbClr val="7030A0"/>
              </a:solidFill>
            </a:endParaRPr>
          </a:p>
        </p:txBody>
      </p:sp>
      <p:sp>
        <p:nvSpPr>
          <p:cNvPr id="204" name="Google Shape;204;p3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nvesting.com - YouTube" id="205" name="Google Shape;205;p31"/>
          <p:cNvPicPr preferRelativeResize="0"/>
          <p:nvPr/>
        </p:nvPicPr>
        <p:blipFill rotWithShape="1">
          <a:blip r:embed="rId3">
            <a:alphaModFix/>
          </a:blip>
          <a:srcRect b="0" l="-3220" r="3219" t="0"/>
          <a:stretch/>
        </p:blipFill>
        <p:spPr>
          <a:xfrm>
            <a:off x="960724" y="1026679"/>
            <a:ext cx="2080076" cy="2080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pha Vantage Market Data" id="206" name="Google Shape;20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2751" y="777423"/>
            <a:ext cx="1856925" cy="185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rted: Companies in the Nasdaq 100, by Weight" id="207" name="Google Shape;20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1039" y="2117775"/>
            <a:ext cx="2155623" cy="2009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32"/>
          <p:cNvSpPr txBox="1"/>
          <p:nvPr>
            <p:ph type="ctrTitle"/>
          </p:nvPr>
        </p:nvSpPr>
        <p:spPr>
          <a:xfrm>
            <a:off x="656800" y="677841"/>
            <a:ext cx="3303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400">
                <a:solidFill>
                  <a:srgbClr val="7030A0"/>
                </a:solidFill>
              </a:rPr>
              <a:t>Types</a:t>
            </a:r>
            <a:endParaRPr sz="2400">
              <a:solidFill>
                <a:srgbClr val="7030A0"/>
              </a:solidFill>
            </a:endParaRPr>
          </a:p>
        </p:txBody>
      </p:sp>
      <p:sp>
        <p:nvSpPr>
          <p:cNvPr id="215" name="Google Shape;215;p32"/>
          <p:cNvSpPr txBox="1"/>
          <p:nvPr/>
        </p:nvSpPr>
        <p:spPr>
          <a:xfrm>
            <a:off x="513000" y="1302750"/>
            <a:ext cx="81975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Time Series Tabular Data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Market Sentiment Data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16" name="Google Shape;216;p32"/>
          <p:cNvSpPr txBox="1"/>
          <p:nvPr>
            <p:ph type="ctrTitle"/>
          </p:nvPr>
        </p:nvSpPr>
        <p:spPr>
          <a:xfrm>
            <a:off x="580800" y="2378366"/>
            <a:ext cx="33030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400">
                <a:solidFill>
                  <a:srgbClr val="7030A0"/>
                </a:solidFill>
              </a:rPr>
              <a:t>Stock Tickers</a:t>
            </a:r>
            <a:endParaRPr sz="2400">
              <a:solidFill>
                <a:srgbClr val="7030A0"/>
              </a:solidFill>
            </a:endParaRPr>
          </a:p>
        </p:txBody>
      </p:sp>
      <p:sp>
        <p:nvSpPr>
          <p:cNvPr id="217" name="Google Shape;217;p32"/>
          <p:cNvSpPr txBox="1"/>
          <p:nvPr/>
        </p:nvSpPr>
        <p:spPr>
          <a:xfrm>
            <a:off x="580800" y="2884825"/>
            <a:ext cx="81975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Nasdaq 100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descr="A graph showing the growth of a stock market&#10;&#10;Description automatically generated" id="218" name="Google Shape;21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0" y="1362575"/>
            <a:ext cx="4061152" cy="3126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33"/>
          <p:cNvSpPr txBox="1"/>
          <p:nvPr/>
        </p:nvSpPr>
        <p:spPr>
          <a:xfrm>
            <a:off x="4765500" y="867246"/>
            <a:ext cx="39213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5" name="Google Shape;225;p33"/>
          <p:cNvSpPr txBox="1"/>
          <p:nvPr>
            <p:ph type="ctrTitle"/>
          </p:nvPr>
        </p:nvSpPr>
        <p:spPr>
          <a:xfrm>
            <a:off x="662625" y="152000"/>
            <a:ext cx="41028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400">
                <a:solidFill>
                  <a:srgbClr val="7030A0"/>
                </a:solidFill>
              </a:rPr>
              <a:t>Exploratory Data Analysis</a:t>
            </a:r>
            <a:endParaRPr sz="2400">
              <a:solidFill>
                <a:srgbClr val="7030A0"/>
              </a:solidFill>
            </a:endParaRPr>
          </a:p>
        </p:txBody>
      </p:sp>
      <p:pic>
        <p:nvPicPr>
          <p:cNvPr id="226" name="Google Shape;22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388" y="715500"/>
            <a:ext cx="4529275" cy="32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6273" y="715500"/>
            <a:ext cx="4316853" cy="308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p34"/>
          <p:cNvSpPr txBox="1"/>
          <p:nvPr/>
        </p:nvSpPr>
        <p:spPr>
          <a:xfrm>
            <a:off x="4765500" y="867246"/>
            <a:ext cx="39213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4" name="Google Shape;234;p34"/>
          <p:cNvSpPr txBox="1"/>
          <p:nvPr>
            <p:ph type="ctrTitle"/>
          </p:nvPr>
        </p:nvSpPr>
        <p:spPr>
          <a:xfrm>
            <a:off x="662625" y="152000"/>
            <a:ext cx="41028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400">
                <a:solidFill>
                  <a:srgbClr val="7030A0"/>
                </a:solidFill>
              </a:rPr>
              <a:t>Trends</a:t>
            </a:r>
            <a:endParaRPr sz="2400">
              <a:solidFill>
                <a:srgbClr val="7030A0"/>
              </a:solidFill>
            </a:endParaRP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350" y="793475"/>
            <a:ext cx="4638400" cy="3313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1750" y="793475"/>
            <a:ext cx="4275175" cy="30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35"/>
          <p:cNvSpPr txBox="1"/>
          <p:nvPr/>
        </p:nvSpPr>
        <p:spPr>
          <a:xfrm>
            <a:off x="4765500" y="867246"/>
            <a:ext cx="39213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3" name="Google Shape;243;p35"/>
          <p:cNvSpPr txBox="1"/>
          <p:nvPr>
            <p:ph type="ctrTitle"/>
          </p:nvPr>
        </p:nvSpPr>
        <p:spPr>
          <a:xfrm>
            <a:off x="662625" y="152000"/>
            <a:ext cx="41028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400">
                <a:solidFill>
                  <a:srgbClr val="7030A0"/>
                </a:solidFill>
              </a:rPr>
              <a:t>Distributions </a:t>
            </a:r>
            <a:endParaRPr sz="2400">
              <a:solidFill>
                <a:srgbClr val="7030A0"/>
              </a:solidFill>
            </a:endParaRPr>
          </a:p>
        </p:txBody>
      </p:sp>
      <p:pic>
        <p:nvPicPr>
          <p:cNvPr id="244" name="Google Shape;24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57400"/>
            <a:ext cx="4508900" cy="322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2800" y="707000"/>
            <a:ext cx="4718800" cy="337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 txBox="1"/>
          <p:nvPr>
            <p:ph type="ctrTitle"/>
          </p:nvPr>
        </p:nvSpPr>
        <p:spPr>
          <a:xfrm>
            <a:off x="0" y="198225"/>
            <a:ext cx="39213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400">
                <a:solidFill>
                  <a:srgbClr val="7030A0"/>
                </a:solidFill>
              </a:rPr>
              <a:t>Data Preprocessing</a:t>
            </a:r>
            <a:endParaRPr sz="2400">
              <a:solidFill>
                <a:srgbClr val="7030A0"/>
              </a:solidFill>
            </a:endParaRPr>
          </a:p>
        </p:txBody>
      </p:sp>
      <p:sp>
        <p:nvSpPr>
          <p:cNvPr id="251" name="Google Shape;251;p3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2" name="Google Shape;252;p36"/>
          <p:cNvPicPr preferRelativeResize="0"/>
          <p:nvPr/>
        </p:nvPicPr>
        <p:blipFill rotWithShape="1">
          <a:blip r:embed="rId3">
            <a:alphaModFix/>
          </a:blip>
          <a:srcRect b="0" l="0" r="36134" t="13904"/>
          <a:stretch/>
        </p:blipFill>
        <p:spPr>
          <a:xfrm>
            <a:off x="2336275" y="597775"/>
            <a:ext cx="4471450" cy="394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ctrTitle"/>
          </p:nvPr>
        </p:nvSpPr>
        <p:spPr>
          <a:xfrm>
            <a:off x="-2033750" y="0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400">
                <a:solidFill>
                  <a:srgbClr val="7030A0"/>
                </a:solidFill>
                <a:highlight>
                  <a:schemeClr val="lt1"/>
                </a:highlight>
              </a:rPr>
              <a:t>Data Preprocessing</a:t>
            </a:r>
            <a:endParaRPr sz="2400">
              <a:solidFill>
                <a:srgbClr val="7030A0"/>
              </a:solidFill>
              <a:highlight>
                <a:schemeClr val="lt1"/>
              </a:highlight>
            </a:endParaRPr>
          </a:p>
        </p:txBody>
      </p:sp>
      <p:sp>
        <p:nvSpPr>
          <p:cNvPr id="258" name="Google Shape;258;p3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" name="Google Shape;259;p37"/>
          <p:cNvSpPr txBox="1"/>
          <p:nvPr/>
        </p:nvSpPr>
        <p:spPr>
          <a:xfrm>
            <a:off x="340708" y="828594"/>
            <a:ext cx="229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missing values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37"/>
          <p:cNvPicPr preferRelativeResize="0"/>
          <p:nvPr/>
        </p:nvPicPr>
        <p:blipFill rotWithShape="1">
          <a:blip r:embed="rId3">
            <a:alphaModFix/>
          </a:blip>
          <a:srcRect b="28852" l="54828" r="5918" t="48470"/>
          <a:stretch/>
        </p:blipFill>
        <p:spPr>
          <a:xfrm>
            <a:off x="1519051" y="1256200"/>
            <a:ext cx="5529111" cy="125842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7"/>
          <p:cNvSpPr txBox="1"/>
          <p:nvPr/>
        </p:nvSpPr>
        <p:spPr>
          <a:xfrm>
            <a:off x="371402" y="2571751"/>
            <a:ext cx="229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Processed Data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37"/>
          <p:cNvPicPr preferRelativeResize="0"/>
          <p:nvPr/>
        </p:nvPicPr>
        <p:blipFill rotWithShape="1">
          <a:blip r:embed="rId4">
            <a:alphaModFix/>
          </a:blip>
          <a:srcRect b="3408" l="2778" r="56833" t="81197"/>
          <a:stretch/>
        </p:blipFill>
        <p:spPr>
          <a:xfrm>
            <a:off x="1255948" y="3064462"/>
            <a:ext cx="6075436" cy="1402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8"/>
          <p:cNvSpPr txBox="1"/>
          <p:nvPr>
            <p:ph type="ctrTitle"/>
          </p:nvPr>
        </p:nvSpPr>
        <p:spPr>
          <a:xfrm>
            <a:off x="452267" y="168031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400">
                <a:solidFill>
                  <a:srgbClr val="7030A0"/>
                </a:solidFill>
              </a:rPr>
              <a:t>Data Modeling</a:t>
            </a:r>
            <a:endParaRPr sz="2400">
              <a:solidFill>
                <a:srgbClr val="7030A0"/>
              </a:solidFill>
            </a:endParaRPr>
          </a:p>
        </p:txBody>
      </p:sp>
      <p:sp>
        <p:nvSpPr>
          <p:cNvPr id="268" name="Google Shape;268;p3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38"/>
          <p:cNvSpPr txBox="1"/>
          <p:nvPr/>
        </p:nvSpPr>
        <p:spPr>
          <a:xfrm>
            <a:off x="452266" y="1270523"/>
            <a:ext cx="897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TS Mixer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pic>
        <p:nvPicPr>
          <p:cNvPr id="270" name="Google Shape;27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0900" y="1270525"/>
            <a:ext cx="5529676" cy="31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 txBox="1"/>
          <p:nvPr>
            <p:ph type="ctrTitle"/>
          </p:nvPr>
        </p:nvSpPr>
        <p:spPr>
          <a:xfrm>
            <a:off x="452267" y="168031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400">
                <a:solidFill>
                  <a:srgbClr val="7030A0"/>
                </a:solidFill>
              </a:rPr>
              <a:t>Data Modeling</a:t>
            </a:r>
            <a:endParaRPr sz="2400">
              <a:solidFill>
                <a:srgbClr val="7030A0"/>
              </a:solidFill>
            </a:endParaRPr>
          </a:p>
        </p:txBody>
      </p:sp>
      <p:sp>
        <p:nvSpPr>
          <p:cNvPr id="276" name="Google Shape;276;p3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39"/>
          <p:cNvSpPr txBox="1"/>
          <p:nvPr/>
        </p:nvSpPr>
        <p:spPr>
          <a:xfrm>
            <a:off x="452266" y="1270523"/>
            <a:ext cx="897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TS Mixer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pic>
        <p:nvPicPr>
          <p:cNvPr id="278" name="Google Shape;278;p39"/>
          <p:cNvPicPr preferRelativeResize="0"/>
          <p:nvPr/>
        </p:nvPicPr>
        <p:blipFill rotWithShape="1">
          <a:blip r:embed="rId3">
            <a:alphaModFix/>
          </a:blip>
          <a:srcRect b="32855" l="19918" r="58374" t="53508"/>
          <a:stretch/>
        </p:blipFill>
        <p:spPr>
          <a:xfrm>
            <a:off x="1025475" y="1898750"/>
            <a:ext cx="3582828" cy="23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9"/>
          <p:cNvSpPr txBox="1"/>
          <p:nvPr/>
        </p:nvSpPr>
        <p:spPr>
          <a:xfrm>
            <a:off x="5225150" y="517075"/>
            <a:ext cx="3220500" cy="11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Mean Squared Error: 648.3022614220741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Mean Absolute Error: 20.8658343965519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Max Error: 64.08125656819539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Predictions with dates saved to predicted_prices_with_dates.csv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Mean Squared Error: 648.3022614220741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Mean Absolute Error: 20.8658343965519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Max Error: 64.08125656819539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Predictions with dates saved to predicted_prices_with_dates.csv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280" name="Google Shape;280;p39"/>
          <p:cNvSpPr txBox="1"/>
          <p:nvPr/>
        </p:nvSpPr>
        <p:spPr>
          <a:xfrm>
            <a:off x="4980200" y="801875"/>
            <a:ext cx="56154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chemeClr val="dk1"/>
                </a:solidFill>
              </a:rPr>
              <a:t>Mean Squared Error: 648.3022614220741</a:t>
            </a:r>
            <a:endParaRPr i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chemeClr val="dk1"/>
                </a:solidFill>
              </a:rPr>
              <a:t>Mean Absolute Error: 20.8658343965519</a:t>
            </a:r>
            <a:endParaRPr i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chemeClr val="dk1"/>
                </a:solidFill>
              </a:rPr>
              <a:t>Max Error: 64.08125656819539</a:t>
            </a:r>
            <a:endParaRPr i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 txBox="1"/>
          <p:nvPr>
            <p:ph type="ctrTitle"/>
          </p:nvPr>
        </p:nvSpPr>
        <p:spPr>
          <a:xfrm>
            <a:off x="452267" y="168031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400">
                <a:solidFill>
                  <a:srgbClr val="7030A0"/>
                </a:solidFill>
              </a:rPr>
              <a:t>Data Modeling</a:t>
            </a:r>
            <a:endParaRPr sz="2400">
              <a:solidFill>
                <a:srgbClr val="7030A0"/>
              </a:solidFill>
            </a:endParaRPr>
          </a:p>
        </p:txBody>
      </p:sp>
      <p:sp>
        <p:nvSpPr>
          <p:cNvPr id="286" name="Google Shape;286;p4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" name="Google Shape;287;p40"/>
          <p:cNvSpPr txBox="1"/>
          <p:nvPr/>
        </p:nvSpPr>
        <p:spPr>
          <a:xfrm>
            <a:off x="270841" y="1377698"/>
            <a:ext cx="897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 u="none" cap="none" strike="noStrike">
                <a:solidFill>
                  <a:schemeClr val="dk1"/>
                </a:solidFill>
              </a:rPr>
              <a:t>SARIMAX 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288" name="Google Shape;288;p40"/>
          <p:cNvSpPr txBox="1"/>
          <p:nvPr/>
        </p:nvSpPr>
        <p:spPr>
          <a:xfrm>
            <a:off x="397564" y="1930322"/>
            <a:ext cx="363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89" name="Google Shape;28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000" y="168025"/>
            <a:ext cx="4699000" cy="22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675" y="2493121"/>
            <a:ext cx="3801475" cy="1978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1"/>
          <p:cNvSpPr txBox="1"/>
          <p:nvPr>
            <p:ph type="ctrTitle"/>
          </p:nvPr>
        </p:nvSpPr>
        <p:spPr>
          <a:xfrm>
            <a:off x="452267" y="168031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400">
                <a:solidFill>
                  <a:srgbClr val="7030A0"/>
                </a:solidFill>
              </a:rPr>
              <a:t>Data Modeling</a:t>
            </a:r>
            <a:endParaRPr sz="2400">
              <a:solidFill>
                <a:srgbClr val="7030A0"/>
              </a:solidFill>
            </a:endParaRPr>
          </a:p>
        </p:txBody>
      </p:sp>
      <p:sp>
        <p:nvSpPr>
          <p:cNvPr id="296" name="Google Shape;296;p4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7" name="Google Shape;297;p41"/>
          <p:cNvSpPr txBox="1"/>
          <p:nvPr/>
        </p:nvSpPr>
        <p:spPr>
          <a:xfrm>
            <a:off x="452273" y="1360850"/>
            <a:ext cx="693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SARIMAX - Seasonal Autoregressive Integrated Moving Average</a:t>
            </a:r>
            <a:endParaRPr b="1" i="0" sz="1600" u="none" cap="none" strike="noStrike">
              <a:solidFill>
                <a:schemeClr val="dk1"/>
              </a:solidFill>
            </a:endParaRPr>
          </a:p>
        </p:txBody>
      </p:sp>
      <p:pic>
        <p:nvPicPr>
          <p:cNvPr id="298" name="Google Shape;298;p41"/>
          <p:cNvPicPr preferRelativeResize="0"/>
          <p:nvPr/>
        </p:nvPicPr>
        <p:blipFill rotWithShape="1">
          <a:blip r:embed="rId3">
            <a:alphaModFix/>
          </a:blip>
          <a:srcRect b="24014" l="25010" r="55439" t="59388"/>
          <a:stretch/>
        </p:blipFill>
        <p:spPr>
          <a:xfrm>
            <a:off x="1057950" y="1953725"/>
            <a:ext cx="4324874" cy="238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1"/>
          <p:cNvSpPr txBox="1"/>
          <p:nvPr/>
        </p:nvSpPr>
        <p:spPr>
          <a:xfrm>
            <a:off x="5488200" y="580550"/>
            <a:ext cx="36558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Validation RMSE: 201.12706581639185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Test RMSE: 184.8865340799536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2"/>
          <p:cNvSpPr txBox="1"/>
          <p:nvPr>
            <p:ph type="ctrTitle"/>
          </p:nvPr>
        </p:nvSpPr>
        <p:spPr>
          <a:xfrm>
            <a:off x="452267" y="168031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400">
                <a:solidFill>
                  <a:srgbClr val="7030A0"/>
                </a:solidFill>
              </a:rPr>
              <a:t>Data Modeling</a:t>
            </a:r>
            <a:endParaRPr sz="2400">
              <a:solidFill>
                <a:srgbClr val="7030A0"/>
              </a:solidFill>
            </a:endParaRPr>
          </a:p>
        </p:txBody>
      </p:sp>
      <p:sp>
        <p:nvSpPr>
          <p:cNvPr id="305" name="Google Shape;305;p4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" name="Google Shape;306;p42"/>
          <p:cNvSpPr txBox="1"/>
          <p:nvPr/>
        </p:nvSpPr>
        <p:spPr>
          <a:xfrm>
            <a:off x="288991" y="1051123"/>
            <a:ext cx="897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TIDE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307" name="Google Shape;307;p42"/>
          <p:cNvSpPr txBox="1"/>
          <p:nvPr/>
        </p:nvSpPr>
        <p:spPr>
          <a:xfrm>
            <a:off x="397564" y="1930322"/>
            <a:ext cx="363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308" name="Google Shape;30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1025" y="1359175"/>
            <a:ext cx="5133928" cy="33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3"/>
          <p:cNvSpPr txBox="1"/>
          <p:nvPr>
            <p:ph type="ctrTitle"/>
          </p:nvPr>
        </p:nvSpPr>
        <p:spPr>
          <a:xfrm>
            <a:off x="452267" y="168031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400">
                <a:solidFill>
                  <a:srgbClr val="7030A0"/>
                </a:solidFill>
              </a:rPr>
              <a:t>Data Modeling</a:t>
            </a:r>
            <a:endParaRPr sz="2400">
              <a:solidFill>
                <a:srgbClr val="7030A0"/>
              </a:solidFill>
            </a:endParaRPr>
          </a:p>
        </p:txBody>
      </p:sp>
      <p:sp>
        <p:nvSpPr>
          <p:cNvPr id="314" name="Google Shape;314;p4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5" name="Google Shape;315;p43"/>
          <p:cNvSpPr txBox="1"/>
          <p:nvPr/>
        </p:nvSpPr>
        <p:spPr>
          <a:xfrm>
            <a:off x="288991" y="1051123"/>
            <a:ext cx="897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TIDE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316" name="Google Shape;316;p43"/>
          <p:cNvSpPr txBox="1"/>
          <p:nvPr/>
        </p:nvSpPr>
        <p:spPr>
          <a:xfrm>
            <a:off x="397564" y="1930322"/>
            <a:ext cx="363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17" name="Google Shape;317;p43"/>
          <p:cNvSpPr txBox="1"/>
          <p:nvPr/>
        </p:nvSpPr>
        <p:spPr>
          <a:xfrm>
            <a:off x="707575" y="1569350"/>
            <a:ext cx="7102800" cy="24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Trial 90 Complete [00h 01m 04s]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val_loss: 0.0011745087103918195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Best val_loss So Far: 0.0005336981266736984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Total elapsed time: 01h 09m 04s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Test MSE: 0.0009702005536890854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Predicted return on $500: $270.77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Actual return on $500: $287.24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4"/>
          <p:cNvSpPr txBox="1"/>
          <p:nvPr>
            <p:ph idx="4294967295" type="ctrTitle"/>
          </p:nvPr>
        </p:nvSpPr>
        <p:spPr>
          <a:xfrm>
            <a:off x="-2559246" y="0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300"/>
              <a:buFont typeface="Times New Roman"/>
              <a:buNone/>
            </a:pPr>
            <a:r>
              <a:rPr lang="en-US" sz="2400">
                <a:solidFill>
                  <a:srgbClr val="7030A0"/>
                </a:solidFill>
              </a:rPr>
              <a:t>Candlestick</a:t>
            </a:r>
            <a:endParaRPr sz="2400"/>
          </a:p>
        </p:txBody>
      </p:sp>
      <p:sp>
        <p:nvSpPr>
          <p:cNvPr id="323" name="Google Shape;323;p44"/>
          <p:cNvSpPr txBox="1"/>
          <p:nvPr>
            <p:ph idx="12" type="sldNum"/>
          </p:nvPr>
        </p:nvSpPr>
        <p:spPr>
          <a:xfrm>
            <a:off x="8413184" y="4776892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</a:rPr>
              <a:t>‹#›</a:t>
            </a:fld>
            <a:endParaRPr/>
          </a:p>
        </p:txBody>
      </p:sp>
      <p:pic>
        <p:nvPicPr>
          <p:cNvPr id="324" name="Google Shape;32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650" y="936000"/>
            <a:ext cx="7608699" cy="351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5"/>
          <p:cNvSpPr txBox="1"/>
          <p:nvPr>
            <p:ph idx="4294967295" type="ctrTitle"/>
          </p:nvPr>
        </p:nvSpPr>
        <p:spPr>
          <a:xfrm>
            <a:off x="-2559246" y="0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300"/>
              <a:buFont typeface="Times New Roman"/>
              <a:buNone/>
            </a:pPr>
            <a:r>
              <a:rPr i="0" lang="en-US" sz="2400" u="none" cap="none" strike="noStrike">
                <a:solidFill>
                  <a:srgbClr val="7030A0"/>
                </a:solidFill>
              </a:rPr>
              <a:t>LSTM</a:t>
            </a:r>
            <a:endParaRPr sz="2400"/>
          </a:p>
        </p:txBody>
      </p:sp>
      <p:sp>
        <p:nvSpPr>
          <p:cNvPr id="330" name="Google Shape;330;p45"/>
          <p:cNvSpPr txBox="1"/>
          <p:nvPr>
            <p:ph idx="12" type="sldNum"/>
          </p:nvPr>
        </p:nvSpPr>
        <p:spPr>
          <a:xfrm>
            <a:off x="8413184" y="4776892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</a:rPr>
              <a:t>‹#›</a:t>
            </a:fld>
            <a:endParaRPr/>
          </a:p>
        </p:txBody>
      </p:sp>
      <p:pic>
        <p:nvPicPr>
          <p:cNvPr id="331" name="Google Shape;33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363" y="948000"/>
            <a:ext cx="6667274" cy="289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5"/>
          <p:cNvSpPr txBox="1"/>
          <p:nvPr/>
        </p:nvSpPr>
        <p:spPr>
          <a:xfrm>
            <a:off x="2999850" y="4025725"/>
            <a:ext cx="31443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MAPE - 3.63%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6"/>
          <p:cNvSpPr txBox="1"/>
          <p:nvPr>
            <p:ph idx="4294967295" type="ctrTitle"/>
          </p:nvPr>
        </p:nvSpPr>
        <p:spPr>
          <a:xfrm>
            <a:off x="-2559246" y="0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300"/>
              <a:buFont typeface="Times New Roman"/>
              <a:buNone/>
            </a:pPr>
            <a:r>
              <a:rPr lang="en-US" sz="2400">
                <a:solidFill>
                  <a:srgbClr val="7030A0"/>
                </a:solidFill>
              </a:rPr>
              <a:t>WIP</a:t>
            </a:r>
            <a:endParaRPr sz="2400"/>
          </a:p>
        </p:txBody>
      </p:sp>
      <p:sp>
        <p:nvSpPr>
          <p:cNvPr id="338" name="Google Shape;338;p46"/>
          <p:cNvSpPr txBox="1"/>
          <p:nvPr>
            <p:ph idx="12" type="sldNum"/>
          </p:nvPr>
        </p:nvSpPr>
        <p:spPr>
          <a:xfrm>
            <a:off x="8413184" y="4776892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</a:rPr>
              <a:t>‹#›</a:t>
            </a:fld>
            <a:endParaRPr/>
          </a:p>
        </p:txBody>
      </p:sp>
      <p:sp>
        <p:nvSpPr>
          <p:cNvPr id="339" name="Google Shape;339;p46"/>
          <p:cNvSpPr txBox="1"/>
          <p:nvPr/>
        </p:nvSpPr>
        <p:spPr>
          <a:xfrm>
            <a:off x="2999850" y="4025725"/>
            <a:ext cx="31443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MAPE &lt; 1%</a:t>
            </a:r>
            <a:endParaRPr sz="1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40" name="Google Shape;34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2499" y="1036800"/>
            <a:ext cx="4379426" cy="261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7"/>
          <p:cNvSpPr txBox="1"/>
          <p:nvPr>
            <p:ph type="ctrTitle"/>
          </p:nvPr>
        </p:nvSpPr>
        <p:spPr>
          <a:xfrm>
            <a:off x="452267" y="168031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2400">
                <a:solidFill>
                  <a:srgbClr val="7030A0"/>
                </a:solidFill>
              </a:rPr>
              <a:t>Conclusion</a:t>
            </a:r>
            <a:endParaRPr sz="2400">
              <a:solidFill>
                <a:srgbClr val="7030A0"/>
              </a:solidFill>
            </a:endParaRPr>
          </a:p>
        </p:txBody>
      </p:sp>
      <p:sp>
        <p:nvSpPr>
          <p:cNvPr id="346" name="Google Shape;346;p4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7" name="Google Shape;347;p47"/>
          <p:cNvSpPr txBox="1"/>
          <p:nvPr/>
        </p:nvSpPr>
        <p:spPr>
          <a:xfrm>
            <a:off x="288991" y="1051123"/>
            <a:ext cx="897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348" name="Google Shape;348;p47"/>
          <p:cNvSpPr txBox="1"/>
          <p:nvPr/>
        </p:nvSpPr>
        <p:spPr>
          <a:xfrm>
            <a:off x="397564" y="1930322"/>
            <a:ext cx="363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49" name="Google Shape;349;p47"/>
          <p:cNvSpPr txBox="1"/>
          <p:nvPr/>
        </p:nvSpPr>
        <p:spPr>
          <a:xfrm>
            <a:off x="943825" y="3037550"/>
            <a:ext cx="7102800" cy="9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en-US" sz="1150">
                <a:solidFill>
                  <a:schemeClr val="dk1"/>
                </a:solidFill>
              </a:rPr>
              <a:t>SARIMAX: Good for stable, linear predictions</a:t>
            </a:r>
            <a:endParaRPr sz="1100">
              <a:solidFill>
                <a:schemeClr val="dk1"/>
              </a:solidFill>
            </a:endParaRPr>
          </a:p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en-US" sz="1150">
                <a:solidFill>
                  <a:schemeClr val="dk1"/>
                </a:solidFill>
              </a:rPr>
              <a:t>TIDE: Excellent for accuracy in price predictions</a:t>
            </a:r>
            <a:endParaRPr sz="1100">
              <a:solidFill>
                <a:schemeClr val="dk1"/>
              </a:solidFill>
            </a:endParaRPr>
          </a:p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en-US" sz="1150">
                <a:solidFill>
                  <a:schemeClr val="dk1"/>
                </a:solidFill>
              </a:rPr>
              <a:t>TS MIXER: Best for maximizing investment returns</a:t>
            </a:r>
            <a:endParaRPr sz="1100">
              <a:solidFill>
                <a:schemeClr val="dk1"/>
              </a:solidFill>
            </a:endParaRPr>
          </a:p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en-US" sz="1150">
                <a:solidFill>
                  <a:schemeClr val="dk1"/>
                </a:solidFill>
              </a:rPr>
              <a:t>LSTM: Reliable for long-term pattern recognition</a:t>
            </a:r>
            <a:endParaRPr sz="115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350" name="Google Shape;350;p47"/>
          <p:cNvGraphicFramePr/>
          <p:nvPr/>
        </p:nvGraphicFramePr>
        <p:xfrm>
          <a:off x="2985325" y="106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{9509CB54-9C21-47EB-A91A-02BA84B3654D}</a:tableStyleId>
              </a:tblPr>
              <a:tblGrid>
                <a:gridCol w="2162350"/>
                <a:gridCol w="2162350"/>
              </a:tblGrid>
              <a:tr h="29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 Mixers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 Squared Error: 648.30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SARIMAX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 Squared Error: 202.12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TIDE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Mean Squared Error: 0.00097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8"/>
          <p:cNvSpPr txBox="1"/>
          <p:nvPr>
            <p:ph type="title"/>
          </p:nvPr>
        </p:nvSpPr>
        <p:spPr>
          <a:xfrm>
            <a:off x="0" y="1542060"/>
            <a:ext cx="9144000" cy="2054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